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6583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438BFF"/>
                </a:solidFill>
                <a:latin typeface="Aptos"/>
              </a:defRPr>
            </a:pPr>
            <a:r>
              <a:t>FINIRAG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58368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400" b="1">
                <a:solidFill>
                  <a:srgbClr val="F2F6FC"/>
                </a:solidFill>
                <a:latin typeface="Aptos Display"/>
              </a:defRPr>
            </a:pPr>
            <a:r>
              <a:t>Document Intelligence</a:t>
            </a:r>
            <a:br/>
            <a: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52928"/>
            <a:ext cx="59436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0">
                <a:solidFill>
                  <a:srgbClr val="96A3B7"/>
                </a:solidFill>
                <a:latin typeface="Aptos"/>
              </a:defRPr>
            </a:pPr>
            <a:r>
              <a:t>AI Engineer Internship • Technical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456432"/>
            <a:ext cx="1417320" cy="310896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465575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2F6FC"/>
                </a:solidFill>
                <a:latin typeface="Aptos"/>
              </a:defRPr>
            </a:pPr>
            <a:r>
              <a:t>PDF / JPG / 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3456432"/>
            <a:ext cx="1572768" cy="310896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3465575"/>
            <a:ext cx="157276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2F6FC"/>
                </a:solidFill>
                <a:latin typeface="Aptos"/>
              </a:defRPr>
            </a:pPr>
            <a:r>
              <a:t>4 document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456432"/>
            <a:ext cx="1508760" cy="310896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465575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2F6FC"/>
                </a:solidFill>
                <a:latin typeface="Aptos"/>
              </a:defRPr>
            </a:pPr>
            <a:r>
              <a:t>AI +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006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>
                <a:solidFill>
                  <a:srgbClr val="96A3B7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074920"/>
            <a:ext cx="4114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Aptos"/>
              </a:defRPr>
            </a:pPr>
            <a:r>
              <a:t>Poli Reddy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960120"/>
            <a:ext cx="3886200" cy="489204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2788920" cy="347472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2514600" cy="315468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965960"/>
            <a:ext cx="2240280" cy="283464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12848"/>
            <a:ext cx="2514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96A3B7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000" b="1">
                <a:solidFill>
                  <a:srgbClr val="438B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136392"/>
            <a:ext cx="2514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75887"/>
            <a:ext cx="25146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000" b="1">
                <a:solidFill>
                  <a:srgbClr val="23C5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24528"/>
            <a:ext cx="2514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166360"/>
            <a:ext cx="27889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0">
                <a:solidFill>
                  <a:srgbClr val="96A3B7"/>
                </a:solidFill>
                <a:latin typeface="Aptos"/>
              </a:defRPr>
            </a:pPr>
            <a:r>
              <a:t>Mistral OCR  •  Gemini  •  Groq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Turn heterogeneous financial documents into trustworthy, reviewable structured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1572768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00200"/>
            <a:ext cx="1170432" cy="310896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09344"/>
            <a:ext cx="11704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Layout-heavy inp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46634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F2F6FC"/>
                </a:solidFill>
                <a:latin typeface="Aptos"/>
              </a:defRPr>
            </a:pPr>
            <a:r>
              <a:t>Scanned images, vector-outlined PDFs, tables and multi-page statements.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66360" cy="1572768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600200"/>
            <a:ext cx="1170432" cy="310896"/>
          </a:xfrm>
          <a:prstGeom prst="roundRect">
            <a:avLst/>
          </a:prstGeom>
          <a:solidFill>
            <a:srgbClr val="8B6CFF"/>
          </a:solidFill>
          <a:ln w="10160">
            <a:solidFill>
              <a:srgbClr val="8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09344"/>
            <a:ext cx="11704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Semantic ambigui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57400"/>
            <a:ext cx="46634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F2F6FC"/>
                </a:solidFill>
                <a:latin typeface="Aptos"/>
              </a:defRPr>
            </a:pPr>
            <a:r>
              <a:t>Missing ≠ zero ≠ unreadable; tax-inclusive totals, discounts and units need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166360" cy="1572768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7" y="3520440"/>
            <a:ext cx="1170432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29584"/>
            <a:ext cx="11704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Financial correc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77640"/>
            <a:ext cx="46634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F2F6FC"/>
                </a:solidFill>
                <a:latin typeface="Aptos"/>
              </a:defRPr>
            </a:pPr>
            <a:r>
              <a:t>Extraction alone is insufficient: arithmetic must be checked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37560"/>
            <a:ext cx="5166360" cy="1572768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3520440"/>
            <a:ext cx="1170432" cy="310896"/>
          </a:xfrm>
          <a:prstGeom prst="roundRect">
            <a:avLst/>
          </a:prstGeom>
          <a:solidFill>
            <a:srgbClr val="38CBDC"/>
          </a:solidFill>
          <a:ln w="10160">
            <a:solidFill>
              <a:srgbClr val="38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529584"/>
            <a:ext cx="117043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Operational deli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77640"/>
            <a:ext cx="46634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F2F6FC"/>
                </a:solidFill>
                <a:latin typeface="Aptos"/>
              </a:defRPr>
            </a:pPr>
            <a:r>
              <a:t>Persist attempts, expose APIs, provide history/dashboard and deploy the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27080" cy="68580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96128"/>
            <a:ext cx="10469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96A3B7"/>
                </a:solidFill>
                <a:latin typeface="Aptos"/>
              </a:defRPr>
            </a:pPr>
            <a:r>
              <a:t>Input: PDF/JPG/PNG • User selects type: Invoice / Balance Sheet / P&amp;L / Cash Flow • Max 3 pages • Max 10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A provider-abstracted pipeline separates AI extraction from deterministic financial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664208"/>
            <a:ext cx="438912" cy="310896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File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Signature, readability,</a:t>
            </a:r>
            <a:br/>
            <a:r>
              <a:t>size + page checks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39696" y="2450592"/>
            <a:ext cx="219456" cy="0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86584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664208"/>
            <a:ext cx="438912" cy="310896"/>
          </a:xfrm>
          <a:prstGeom prst="roundRect">
            <a:avLst/>
          </a:prstGeom>
          <a:solidFill>
            <a:srgbClr val="38CBDC"/>
          </a:solidFill>
          <a:ln w="10160">
            <a:solidFill>
              <a:srgbClr val="38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Text /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Native PDF probe</a:t>
            </a:r>
            <a:br/>
            <a:r>
              <a:t>or Mistral OCR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87368" y="2450592"/>
            <a:ext cx="219456" cy="0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34256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1664208"/>
            <a:ext cx="438912" cy="310896"/>
          </a:xfrm>
          <a:prstGeom prst="roundRect">
            <a:avLst/>
          </a:prstGeom>
          <a:solidFill>
            <a:srgbClr val="8B6CFF"/>
          </a:solidFill>
          <a:ln w="10160">
            <a:solidFill>
              <a:srgbClr val="8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Structured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Gemini primary</a:t>
            </a:r>
            <a:br/>
            <a:r>
              <a:t>Groq fallback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2450592"/>
            <a:ext cx="219456" cy="0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81927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1" y="1664208"/>
            <a:ext cx="438912" cy="310896"/>
          </a:xfrm>
          <a:prstGeom prst="roundRect">
            <a:avLst/>
          </a:prstGeom>
          <a:solidFill>
            <a:srgbClr val="F5B141"/>
          </a:solidFill>
          <a:ln w="10160">
            <a:solidFill>
              <a:srgbClr val="F5B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Canonical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Pydantic + normalization</a:t>
            </a:r>
            <a:br/>
            <a:r>
              <a:t>+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82711" y="2450592"/>
            <a:ext cx="219456" cy="0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0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75904" y="1664208"/>
            <a:ext cx="438912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Financial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Decimal arithmetic</a:t>
            </a:r>
            <a:br/>
            <a:r>
              <a:t>PASS / FAIL / N/A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30384" y="2450592"/>
            <a:ext cx="219456" cy="0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77272" y="1508760"/>
            <a:ext cx="1700784" cy="1874519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23576" y="1664208"/>
            <a:ext cx="438912" cy="310896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3576" y="1673352"/>
            <a:ext cx="43891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3576" y="2121408"/>
            <a:ext cx="1389888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Persist + 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3576" y="2542032"/>
            <a:ext cx="1389888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96A3B7"/>
                </a:solidFill>
                <a:latin typeface="Aptos"/>
              </a:defRPr>
            </a:pPr>
            <a:r>
              <a:t>PostgreSQL + FastAPI</a:t>
            </a:r>
            <a:br/>
            <a:r>
              <a:t>+ dashboard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069080"/>
            <a:ext cx="3383280" cy="150876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4297680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8B6CFF"/>
                </a:solidFill>
                <a:latin typeface="Aptos"/>
              </a:defRPr>
            </a:pPr>
            <a:r>
              <a:t>AI reads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4681728"/>
            <a:ext cx="290779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LLMs handle visual/text understanding and schema extraction.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069080"/>
            <a:ext cx="3383280" cy="150876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568" y="4297680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23C58B"/>
                </a:solidFill>
                <a:latin typeface="Aptos"/>
              </a:defRPr>
            </a:pPr>
            <a:r>
              <a:t>Rules decide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4681728"/>
            <a:ext cx="290779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Python Decimal validators own arithmetic and reconciliation.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4069080"/>
            <a:ext cx="3383280" cy="150876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4297680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38CBDC"/>
                </a:solidFill>
                <a:latin typeface="Aptos"/>
              </a:defRPr>
            </a:pPr>
            <a:r>
              <a:t>Evidence stays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681728"/>
            <a:ext cx="2907792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Original representation, page and source text remain attached.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Single FastAPI service serves the dashboard, API and processing pipeline; PostgreSQL stores attempts.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234440"/>
            <a:ext cx="3657600" cy="64008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1399032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HTML / CSS / JavaScript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148840"/>
            <a:ext cx="3657600" cy="658368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304288"/>
            <a:ext cx="36576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FastAPI  •  REST API  •  Swagger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874519"/>
            <a:ext cx="0" cy="274321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154680"/>
            <a:ext cx="2788920" cy="9601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2788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>
                <a:solidFill>
                  <a:srgbClr val="F2F6FC"/>
                </a:solidFill>
                <a:latin typeface="Aptos"/>
              </a:defRPr>
            </a:pPr>
            <a:r>
              <a:t>File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>
                <a:solidFill>
                  <a:srgbClr val="96A3B7"/>
                </a:solidFill>
                <a:latin typeface="Aptos"/>
              </a:defRPr>
            </a:pPr>
            <a:r>
              <a:t>PDF / JPEG / PNG • 10MB • 3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383280" cy="9601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364992"/>
            <a:ext cx="3383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>
                <a:solidFill>
                  <a:srgbClr val="F2F6FC"/>
                </a:solidFill>
                <a:latin typeface="Aptos"/>
              </a:defRPr>
            </a:pPr>
            <a:r>
              <a:t>Text Extraction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03320"/>
            <a:ext cx="3108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80" b="0">
                <a:solidFill>
                  <a:srgbClr val="96A3B7"/>
                </a:solidFill>
                <a:latin typeface="Aptos"/>
              </a:defRPr>
            </a:pPr>
            <a:r>
              <a:t>Native PDF probe  ↔  Mistral OCR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154680"/>
            <a:ext cx="2788920" cy="9601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364992"/>
            <a:ext cx="2788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>
                <a:solidFill>
                  <a:srgbClr val="F2F6F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03320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>
                <a:solidFill>
                  <a:srgbClr val="96A3B7"/>
                </a:solidFill>
                <a:latin typeface="Aptos"/>
              </a:defRPr>
            </a:pPr>
            <a:r>
              <a:t>JSONB results • attempts • history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31720" y="2807208"/>
            <a:ext cx="3749040" cy="347472"/>
          </a:xfrm>
          <a:prstGeom prst="line">
            <a:avLst/>
          </a:prstGeom>
          <a:ln w="17780">
            <a:solidFill>
              <a:srgbClr val="2B3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807208"/>
            <a:ext cx="0" cy="347472"/>
          </a:xfrm>
          <a:prstGeom prst="line">
            <a:avLst/>
          </a:prstGeom>
          <a:ln w="2540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807208"/>
            <a:ext cx="3685032" cy="347472"/>
          </a:xfrm>
          <a:prstGeom prst="line">
            <a:avLst/>
          </a:prstGeom>
          <a:ln w="17780">
            <a:solidFill>
              <a:srgbClr val="2B39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4617720"/>
            <a:ext cx="10241280" cy="91440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809744"/>
            <a:ext cx="9784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Mistral OCR → Gemini extraction → Groq fallback → Pydantic normalization → Evidence → Decimal validation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4114800"/>
            <a:ext cx="0" cy="502920"/>
          </a:xfrm>
          <a:prstGeom prst="line">
            <a:avLst/>
          </a:prstGeom>
          <a:ln w="2032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4114800"/>
            <a:ext cx="0" cy="502920"/>
          </a:xfrm>
          <a:prstGeom prst="line">
            <a:avLst/>
          </a:prstGeom>
          <a:ln w="2032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65792" y="4114800"/>
            <a:ext cx="0" cy="502920"/>
          </a:xfrm>
          <a:prstGeom prst="line">
            <a:avLst/>
          </a:prstGeom>
          <a:ln w="2032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Document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Each stage has a clear responsibility; failures remain explicit instead of being silently converted.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438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Read bytes</a:t>
            </a:r>
            <a:br/>
            <a:r>
              <a:t>sanitize filename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19656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F5B1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Magic/signature</a:t>
            </a:r>
            <a:br/>
            <a:r>
              <a:t>readability • limits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72384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38CB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Extract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Native PDF</a:t>
            </a:r>
            <a:br/>
            <a:r>
              <a:t>or Mistral OCR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4568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64024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8B6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AI 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Typed JSON</a:t>
            </a:r>
            <a:br/>
            <a:r>
              <a:t>all meaningful fields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16752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36208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F5B14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Decimal values</a:t>
            </a:r>
            <a:br/>
            <a:r>
              <a:t>units • signs • status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88936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08392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1544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38CB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1544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6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Source text</a:t>
            </a:r>
            <a:br/>
            <a:r>
              <a:t>page +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61120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80576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23C5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Financial formulas</a:t>
            </a:r>
            <a:br/>
            <a:r>
              <a:t>PASS / FAIL / N/A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433304" y="2578608"/>
            <a:ext cx="192024" cy="0"/>
          </a:xfrm>
          <a:prstGeom prst="line">
            <a:avLst/>
          </a:prstGeom>
          <a:ln w="19050">
            <a:solidFill>
              <a:srgbClr val="43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652760" y="1600200"/>
            <a:ext cx="1252728" cy="19659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25912" y="1773936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438B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2176272"/>
            <a:ext cx="10972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30" b="1">
                <a:solidFill>
                  <a:srgbClr val="F2F6FC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53344" y="2624328"/>
            <a:ext cx="1042415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19" b="0">
                <a:solidFill>
                  <a:srgbClr val="96A3B7"/>
                </a:solidFill>
                <a:latin typeface="Aptos"/>
              </a:defRPr>
            </a:pPr>
            <a:r>
              <a:t>PostgreSQL</a:t>
            </a:r>
            <a:br/>
            <a:r>
              <a:t>latest + history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069080"/>
            <a:ext cx="3429000" cy="141732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270248"/>
            <a:ext cx="2971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Field state model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" y="4681728"/>
            <a:ext cx="1389888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4690872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EXPLICIT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59152" y="4681728"/>
            <a:ext cx="1389888" cy="310896"/>
          </a:xfrm>
          <a:prstGeom prst="roundRect">
            <a:avLst/>
          </a:prstGeom>
          <a:solidFill>
            <a:srgbClr val="38CBDC"/>
          </a:solidFill>
          <a:ln w="10160">
            <a:solidFill>
              <a:srgbClr val="38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59152" y="4690872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EXPLICIT_ZERO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" y="5074920"/>
            <a:ext cx="1389888" cy="310896"/>
          </a:xfrm>
          <a:prstGeom prst="roundRect">
            <a:avLst/>
          </a:prstGeom>
          <a:solidFill>
            <a:srgbClr val="96A3B7"/>
          </a:solidFill>
          <a:ln w="10160">
            <a:solidFill>
              <a:srgbClr val="96A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08406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59152" y="5074920"/>
            <a:ext cx="1389888" cy="310896"/>
          </a:xfrm>
          <a:prstGeom prst="roundRect">
            <a:avLst/>
          </a:prstGeom>
          <a:solidFill>
            <a:srgbClr val="EF5B5B"/>
          </a:solidFill>
          <a:ln w="1016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5084064"/>
            <a:ext cx="138988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UNREADABLE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0" y="4069080"/>
            <a:ext cx="3429000" cy="141732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07992" y="4270248"/>
            <a:ext cx="2971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Evidence payload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7992" y="464515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Original source text</a:t>
            </a:r>
            <a:br/>
            <a:r>
              <a:t>Page number • optional block/box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4069080"/>
            <a:ext cx="3429000" cy="141732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1312" y="4270248"/>
            <a:ext cx="2971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4645152"/>
            <a:ext cx="29260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One row per processing attempt</a:t>
            </a:r>
            <a:br/>
            <a:r>
              <a:t>Latest-by-name retrieval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AI / OCR Extraction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Mistral OCR handles visual document reading; Gemini structures the result; Groq provides fallback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56432" cy="23317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627632"/>
            <a:ext cx="1234440" cy="310896"/>
          </a:xfrm>
          <a:prstGeom prst="roundRect">
            <a:avLst/>
          </a:prstGeom>
          <a:solidFill>
            <a:srgbClr val="38CBDC"/>
          </a:solidFill>
          <a:ln w="10160">
            <a:solidFill>
              <a:srgbClr val="38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3677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Primary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Mistral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14600"/>
            <a:ext cx="29718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38CBDC"/>
                </a:solidFill>
                <a:latin typeface="Aptos"/>
              </a:defRPr>
            </a:pPr>
            <a:r>
              <a:t>49/50 dataset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44368"/>
            <a:ext cx="2971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Layout-aware OCR blocks • page text • block confidence • bounding-box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17320"/>
            <a:ext cx="3456432" cy="23317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627632"/>
            <a:ext cx="1234440" cy="310896"/>
          </a:xfrm>
          <a:prstGeom prst="roundRect">
            <a:avLst/>
          </a:prstGeom>
          <a:solidFill>
            <a:srgbClr val="8B6CFF"/>
          </a:solidFill>
          <a:ln w="10160">
            <a:solidFill>
              <a:srgbClr val="8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3677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Primary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75688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29718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8B6CFF"/>
                </a:solidFill>
                <a:latin typeface="Aptos"/>
              </a:defRPr>
            </a:pPr>
            <a:r>
              <a:t>47/50 dataset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44368"/>
            <a:ext cx="2971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Structured extraction into document-specific Pydantic schemas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417320"/>
            <a:ext cx="3456432" cy="23317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2" y="1627632"/>
            <a:ext cx="1234440" cy="310896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63677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Fallback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075688"/>
            <a:ext cx="2971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Groq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514600"/>
            <a:ext cx="29718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438BFF"/>
                </a:solidFill>
                <a:latin typeface="Aptos"/>
              </a:defRPr>
            </a:pPr>
            <a:r>
              <a:t>3/50 dataset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944368"/>
            <a:ext cx="29718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Provider fallback for quota/rate-limit/parse-oriented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5166360" cy="132588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70832"/>
            <a:ext cx="4663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Routing observed in the 50-document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38CBDC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8006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Mistral OCR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754880"/>
            <a:ext cx="10058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300" b="1">
                <a:solidFill>
                  <a:srgbClr val="438B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8006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native PDF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160520"/>
            <a:ext cx="5577840" cy="132588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70832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Trust 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754880"/>
            <a:ext cx="502920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LLM = extraction authority for structure. Python Decimal = arithmetic authority.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Financial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Deterministic Decimal checks distinguish genuine inconsistencies from extraction ambiguity.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371600"/>
            <a:ext cx="2578608" cy="27889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240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20" b="1">
                <a:solidFill>
                  <a:srgbClr val="438BFF"/>
                </a:solidFill>
                <a:latin typeface="Aptos"/>
              </a:defRPr>
            </a:pPr>
            <a:r>
              <a:t>Invoice / Receipt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148840"/>
            <a:ext cx="2148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quantity × unit price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discount-aware line totals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subtotal / tax / total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tax-inclusive readings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cash − total =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371600"/>
            <a:ext cx="2578608" cy="27889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240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20" b="1">
                <a:solidFill>
                  <a:srgbClr val="38CBDC"/>
                </a:solidFill>
                <a:latin typeface="Aptos"/>
              </a:defRPr>
            </a:pPr>
            <a:r>
              <a:t>Balance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2148840"/>
            <a:ext cx="2148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assets ≈ capital + liabilities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asset component sums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liability component sums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each period independently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71600"/>
            <a:ext cx="2578608" cy="27889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240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20" b="1">
                <a:solidFill>
                  <a:srgbClr val="8B6CFF"/>
                </a:solidFill>
                <a:latin typeface="Aptos"/>
              </a:defRPr>
            </a:pPr>
            <a:r>
              <a:t>Profit &amp;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148840"/>
            <a:ext cx="2148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income components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expenditure components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profit / minority reconciliation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appropriation equation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carried-forward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6567" y="1371600"/>
            <a:ext cx="2578608" cy="278892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1600200"/>
            <a:ext cx="2240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20" b="1">
                <a:solidFill>
                  <a:srgbClr val="23C58B"/>
                </a:solidFill>
                <a:latin typeface="Aptos"/>
              </a:defRPr>
            </a:pPr>
            <a:r>
              <a:t>Cash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2148840"/>
            <a:ext cx="2148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operating / investing / financing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section component sums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opening + net increase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FX / amalgamation guards</a:t>
            </a:r>
          </a:p>
          <a:p>
            <a:pPr>
              <a:spcAft>
                <a:spcPts val="400"/>
              </a:spcAft>
              <a:defRPr sz="880">
                <a:solidFill>
                  <a:srgbClr val="F2F6FC"/>
                </a:solidFill>
                <a:latin typeface="Aptos"/>
              </a:defRPr>
            </a:pPr>
            <a:r>
              <a:t>• closing cash reconciliation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98848"/>
            <a:ext cx="10972800" cy="1115568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1965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96A3B7"/>
                </a:solidFill>
                <a:latin typeface="Aptos"/>
              </a:defRPr>
            </a:pPr>
            <a:r>
              <a:t>Dataset regression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626864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batch3-1495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617720"/>
            <a:ext cx="2743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F5B141"/>
                </a:solidFill>
                <a:latin typeface="Aptos"/>
              </a:defRPr>
            </a:pPr>
            <a:r>
              <a:t>$3,480 line 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617720"/>
            <a:ext cx="25603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EF5B5B"/>
                </a:solidFill>
                <a:latin typeface="Aptos"/>
              </a:defRPr>
            </a:pPr>
            <a:r>
              <a:t>vs $5,257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4599432"/>
            <a:ext cx="1234440" cy="310896"/>
          </a:xfrm>
          <a:prstGeom prst="roundRect">
            <a:avLst/>
          </a:prstGeom>
          <a:solidFill>
            <a:srgbClr val="EF5B5B"/>
          </a:solidFill>
          <a:ln w="1016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460857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2F6FC"/>
                </a:solidFill>
                <a:latin typeface="Aptos"/>
              </a:defRPr>
            </a:pPr>
            <a: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5102352"/>
            <a:ext cx="80467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96A3B7"/>
                </a:solidFill>
                <a:latin typeface="Aptos"/>
              </a:defRPr>
            </a:pPr>
            <a:r>
              <a:t>The validator preserves the inconsistency instead of weakening rules to force PASS.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API + Database +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A single Render web service serves the frontend and API, backed by Render 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4800600" cy="342900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297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438BFF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84831"/>
            <a:ext cx="621792" cy="310896"/>
          </a:xfrm>
          <a:prstGeom prst="roundRect">
            <a:avLst/>
          </a:prstGeom>
          <a:solidFill>
            <a:srgbClr val="438BFF"/>
          </a:solidFill>
          <a:ln w="10160">
            <a:solidFill>
              <a:srgbClr val="43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93975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93975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1">
                <a:solidFill>
                  <a:srgbClr val="F2F6FC"/>
                </a:solidFill>
                <a:latin typeface="Aptos"/>
              </a:defRPr>
            </a:pPr>
            <a:r>
              <a:t>/api/v1/documents/process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093975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50" b="0">
                <a:solidFill>
                  <a:srgbClr val="96A3B7"/>
                </a:solidFill>
                <a:latin typeface="Aptos"/>
              </a:defRPr>
            </a:pPr>
            <a:r>
              <a:t>Upload +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651760"/>
            <a:ext cx="621792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660903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60903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1">
                <a:solidFill>
                  <a:srgbClr val="F2F6FC"/>
                </a:solidFill>
                <a:latin typeface="Aptos"/>
              </a:defRPr>
            </a:pPr>
            <a:r>
              <a:t>/api/v1/documents/{document_name}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660903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50" b="0">
                <a:solidFill>
                  <a:srgbClr val="96A3B7"/>
                </a:solidFill>
                <a:latin typeface="Aptos"/>
              </a:defRPr>
            </a:pPr>
            <a:r>
              <a:t>Latest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18687"/>
            <a:ext cx="621792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27831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27831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1">
                <a:solidFill>
                  <a:srgbClr val="F2F6FC"/>
                </a:solidFill>
                <a:latin typeface="Aptos"/>
              </a:defRPr>
            </a:pPr>
            <a:r>
              <a:t>/api/v1/documents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227831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50" b="0">
                <a:solidFill>
                  <a:srgbClr val="96A3B7"/>
                </a:solidFill>
                <a:latin typeface="Aptos"/>
              </a:defRPr>
            </a:pPr>
            <a:r>
              <a:t>History / attempts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785615"/>
            <a:ext cx="621792" cy="310896"/>
          </a:xfrm>
          <a:prstGeom prst="roundRect">
            <a:avLst/>
          </a:prstGeom>
          <a:solidFill>
            <a:srgbClr val="23C58B"/>
          </a:solidFill>
          <a:ln w="10160">
            <a:solidFill>
              <a:srgbClr val="23C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94759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50" b="1">
                <a:solidFill>
                  <a:srgbClr val="F2F6FC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94759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1">
                <a:solidFill>
                  <a:srgbClr val="F2F6FC"/>
                </a:solidFill>
                <a:latin typeface="Aptos"/>
              </a:defRPr>
            </a:pPr>
            <a:r>
              <a:t>/api/v1/health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794759"/>
            <a:ext cx="822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50" b="0">
                <a:solidFill>
                  <a:srgbClr val="96A3B7"/>
                </a:solidFill>
                <a:latin typeface="Aptos"/>
              </a:defRPr>
            </a:pPr>
            <a:r>
              <a:t>API + DB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50992" y="1325880"/>
            <a:ext cx="2560320" cy="342900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572768"/>
            <a:ext cx="20574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38CBD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2121408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2F6FC"/>
                </a:solidFill>
                <a:latin typeface="Aptos"/>
              </a:defRPr>
            </a:pPr>
            <a:r>
              <a:t>documents</a:t>
            </a:r>
            <a:br/>
            <a:r>
              <a:t>JSONB payloads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2953512"/>
            <a:ext cx="19202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96A3B7"/>
                </a:solidFill>
                <a:latin typeface="Aptos"/>
              </a:defRPr>
            </a:pPr>
            <a:r>
              <a:t>Every processing</a:t>
            </a:r>
            <a:br/>
            <a:r>
              <a:t>attempt is retained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886200"/>
            <a:ext cx="1554480" cy="310896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895344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latest-by-name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1325880"/>
            <a:ext cx="3108960" cy="342900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1572768"/>
            <a:ext cx="2606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8B6CFF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2057400"/>
            <a:ext cx="2286000" cy="310896"/>
          </a:xfrm>
          <a:prstGeom prst="roundRect">
            <a:avLst/>
          </a:prstGeom>
          <a:solidFill>
            <a:srgbClr val="8B6CFF"/>
          </a:solidFill>
          <a:ln w="10160">
            <a:solidFill>
              <a:srgbClr val="8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066543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Web Service • free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560320"/>
            <a:ext cx="2286000" cy="310896"/>
          </a:xfrm>
          <a:prstGeom prst="roundRect">
            <a:avLst/>
          </a:prstGeom>
          <a:solidFill>
            <a:srgbClr val="38CBDC"/>
          </a:solidFill>
          <a:ln w="10160">
            <a:solidFill>
              <a:srgbClr val="38C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2569463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F6FC"/>
                </a:solidFill>
                <a:latin typeface="Aptos"/>
              </a:defRPr>
            </a:pPr>
            <a:r>
              <a:t>PostgreSQL • free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182112"/>
            <a:ext cx="256032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2F6FC"/>
                </a:solidFill>
                <a:latin typeface="Aptos"/>
              </a:defRPr>
            </a:pPr>
            <a:r>
              <a:t>Health check</a:t>
            </a:r>
            <a:br/>
            <a:r>
              <a:t>/api/v1/health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977639"/>
            <a:ext cx="2560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0">
                <a:solidFill>
                  <a:srgbClr val="96A3B7"/>
                </a:solidFill>
                <a:latin typeface="Aptos"/>
              </a:defRPr>
            </a:pPr>
            <a:r>
              <a:t>Swagger: /docs</a:t>
            </a:r>
            <a:br/>
            <a:r>
              <a:t>Frontend: 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074920"/>
            <a:ext cx="10972800" cy="685800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57800"/>
            <a:ext cx="10515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0">
                <a:solidFill>
                  <a:srgbClr val="96A3B7"/>
                </a:solidFill>
                <a:latin typeface="Aptos"/>
              </a:defRPr>
            </a:pPr>
            <a:r>
              <a:t>Operational boundary: secrets via environment variables • no raw files persisted • historical attempts preserved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Frontend Screenshots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Implemented HTML/CSS/JavaScript dashboard: upload, processing result, validation, metadata, raw JSON and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577840" cy="489204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298448"/>
            <a:ext cx="5449824" cy="489204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ontend_upload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303520" cy="4526280"/>
          </a:xfrm>
          <a:prstGeom prst="rect">
            <a:avLst/>
          </a:prstGeom>
        </p:spPr>
      </p:pic>
      <p:pic>
        <p:nvPicPr>
          <p:cNvPr id="8" name="Picture 7" descr="frontend_result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81328"/>
            <a:ext cx="516636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6025896"/>
            <a:ext cx="5212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0">
                <a:solidFill>
                  <a:srgbClr val="96A3B7"/>
                </a:solidFill>
                <a:latin typeface="Aptos"/>
              </a:defRPr>
            </a:pPr>
            <a:r>
              <a:t>Upload + processing history • representative render of current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6025896"/>
            <a:ext cx="51206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0">
                <a:solidFill>
                  <a:srgbClr val="96A3B7"/>
                </a:solidFill>
                <a:latin typeface="Aptos"/>
              </a:defRPr>
            </a:pPr>
            <a:r>
              <a:t>Result + validation view • representative render of current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2F6FC"/>
                </a:solidFill>
                <a:latin typeface="Aptos Display"/>
              </a:defRPr>
            </a:pPr>
            <a:r>
              <a:t>Testing + Limitations +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A3B7"/>
                </a:solidFill>
                <a:latin typeface="Aptos"/>
              </a:defRPr>
            </a:pPr>
            <a:r>
              <a:t>The current repository is feature-complete for the case study, with clear production hardening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3657600" cy="452628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9344"/>
            <a:ext cx="31546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1">
                <a:solidFill>
                  <a:srgbClr val="23C58B"/>
                </a:solidFill>
                <a:latin typeface="Aptos"/>
              </a:defRPr>
            </a:pPr>
            <a:r>
              <a:t>TESTING &amp;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1481328" cy="10515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057400"/>
            <a:ext cx="54864" cy="1051560"/>
          </a:xfrm>
          <a:prstGeom prst="rect">
            <a:avLst/>
          </a:prstGeom>
          <a:solidFill>
            <a:srgbClr val="23C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21992"/>
            <a:ext cx="116128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2F6FC"/>
                </a:solidFill>
                <a:latin typeface="Aptos"/>
              </a:defRPr>
            </a:pPr>
            <a:r>
              <a:t>50/50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60904"/>
            <a:ext cx="1161288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>
                <a:solidFill>
                  <a:srgbClr val="96A3B7"/>
                </a:solidFill>
                <a:latin typeface="Aptos"/>
              </a:defRPr>
            </a:pPr>
            <a:r>
              <a:t>processing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2057400"/>
            <a:ext cx="1481328" cy="10515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2057400"/>
            <a:ext cx="54864" cy="1051560"/>
          </a:xfrm>
          <a:prstGeom prst="rect">
            <a:avLst/>
          </a:prstGeom>
          <a:solidFill>
            <a:srgbClr val="38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221992"/>
            <a:ext cx="116128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2F6FC"/>
                </a:solidFill>
                <a:latin typeface="Aptos"/>
              </a:defRPr>
            </a:pPr>
            <a:r>
              <a:t>47/50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1161288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>
                <a:solidFill>
                  <a:srgbClr val="96A3B7"/>
                </a:solidFill>
                <a:latin typeface="Aptos"/>
              </a:defRPr>
            </a:pPr>
            <a:r>
              <a:t>validation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310128"/>
            <a:ext cx="1481328" cy="10515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310128"/>
            <a:ext cx="54864" cy="1051560"/>
          </a:xfrm>
          <a:prstGeom prst="rect">
            <a:avLst/>
          </a:prstGeom>
          <a:solidFill>
            <a:srgbClr val="43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74720"/>
            <a:ext cx="116128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2F6FC"/>
                </a:solidFill>
                <a:latin typeface="Aptos"/>
              </a:defRPr>
            </a:pPr>
            <a:r>
              <a:t>290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913632"/>
            <a:ext cx="1161288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>
                <a:solidFill>
                  <a:srgbClr val="96A3B7"/>
                </a:solidFill>
                <a:latin typeface="Aptos"/>
              </a:defRPr>
            </a:pPr>
            <a:r>
              <a:t>test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3310128"/>
            <a:ext cx="1481328" cy="105156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59152" y="3310128"/>
            <a:ext cx="54864" cy="10515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474720"/>
            <a:ext cx="1161288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F2F6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13632"/>
            <a:ext cx="1161288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>
                <a:solidFill>
                  <a:srgbClr val="96A3B7"/>
                </a:solidFill>
                <a:latin typeface="Aptos"/>
              </a:defRPr>
            </a:pPr>
            <a:r>
              <a:t>intended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90288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F2F6FC"/>
                </a:solidFill>
                <a:latin typeface="Aptos"/>
              </a:defRPr>
            </a:pPr>
            <a:r>
              <a:t>350 PASS  •  10 FAIL  •  56 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10912"/>
            <a:ext cx="306324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>
                <a:solidFill>
                  <a:srgbClr val="96A3B7"/>
                </a:solidFill>
                <a:latin typeface="Aptos"/>
              </a:defRPr>
            </a:pPr>
            <a:r>
              <a:t>2,665 field slots measured</a:t>
            </a:r>
            <a:br/>
            <a:r>
              <a:t>980 line items extracted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1353312"/>
            <a:ext cx="3520440" cy="452628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1609344"/>
            <a:ext cx="30175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1">
                <a:solidFill>
                  <a:srgbClr val="F5B141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057400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Evidence has source text + page, but block-level verification is not yet reliable for every field.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Provider latency and free-tier availability can vary.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History search/filtering is client-side over the loaded dashboard page.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Authentication, rate limiting and background jobs are deferred.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Database migrations are deferred in favor of startup table creation for the prototype.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1353312"/>
            <a:ext cx="3584448" cy="4526280"/>
          </a:xfrm>
          <a:prstGeom prst="roundRect">
            <a:avLst/>
          </a:prstGeom>
          <a:solidFill>
            <a:srgbClr val="0F1726"/>
          </a:solidFill>
          <a:ln w="10160">
            <a:solidFill>
              <a:srgbClr val="2B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1609344"/>
            <a:ext cx="306324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1">
                <a:solidFill>
                  <a:srgbClr val="8B6CFF"/>
                </a:solidFill>
                <a:latin typeface="Aptos"/>
              </a:defRPr>
            </a:pPr>
            <a:r>
              <a:t>FUTURE /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057400"/>
            <a:ext cx="299923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Verified OCR block-to-field grounding + bounding boxes.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Background queue/workers for long-running document processing.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Alembic migrations + stronger DB operations.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Authentication, authorization, rate limits and audit logging.</a:t>
            </a:r>
          </a:p>
          <a:p>
            <a:pPr>
              <a:spcAft>
                <a:spcPts val="700"/>
              </a:spcAft>
              <a:defRPr sz="919">
                <a:solidFill>
                  <a:srgbClr val="F2F6FC"/>
                </a:solidFill>
                <a:latin typeface="Aptos"/>
              </a:defRPr>
            </a:pPr>
            <a:r>
              <a:t>• Provider circuit breakers, observability and staging E2E tests.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053328"/>
            <a:ext cx="11183112" cy="292608"/>
          </a:xfrm>
          <a:prstGeom prst="roundRect">
            <a:avLst/>
          </a:prstGeom>
          <a:solidFill>
            <a:srgbClr val="141E30"/>
          </a:solidFill>
          <a:ln w="10160"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080760"/>
            <a:ext cx="10972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80" b="0">
                <a:solidFill>
                  <a:srgbClr val="96A3B7"/>
                </a:solidFill>
                <a:latin typeface="Aptos"/>
              </a:defRPr>
            </a:pPr>
            <a:r>
              <a:t>Bottom line: correct extraction + explicit uncertainty + deterministic validation — without weakening rules to manufacture PASS results.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3B7"/>
                </a:solidFill>
                <a:latin typeface="Aptos"/>
              </a:defRPr>
            </a:pPr>
            <a:r>
              <a:t>FiniRAG • AI Engineer Case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38B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